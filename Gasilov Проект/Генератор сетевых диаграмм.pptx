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0" r:id="rId8"/>
    <p:sldId id="261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A52-D974-48E7-B96E-463E258D3E7A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8CDB-1E99-4DB4-9030-512B4089E5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94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A52-D974-48E7-B96E-463E258D3E7A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8CDB-1E99-4DB4-9030-512B4089E5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4448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A52-D974-48E7-B96E-463E258D3E7A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8CDB-1E99-4DB4-9030-512B4089E5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5389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A52-D974-48E7-B96E-463E258D3E7A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8CDB-1E99-4DB4-9030-512B4089E5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38887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A52-D974-48E7-B96E-463E258D3E7A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8CDB-1E99-4DB4-9030-512B4089E5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38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A52-D974-48E7-B96E-463E258D3E7A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8CDB-1E99-4DB4-9030-512B4089E5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078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A52-D974-48E7-B96E-463E258D3E7A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8CDB-1E99-4DB4-9030-512B4089E5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9654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A52-D974-48E7-B96E-463E258D3E7A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8CDB-1E99-4DB4-9030-512B4089E5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4145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B272A52-D974-48E7-B96E-463E258D3E7A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6D518CDB-1E99-4DB4-9030-512B4089E5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480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A52-D974-48E7-B96E-463E258D3E7A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8CDB-1E99-4DB4-9030-512B4089E5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6538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A52-D974-48E7-B96E-463E258D3E7A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8CDB-1E99-4DB4-9030-512B4089E5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7156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A52-D974-48E7-B96E-463E258D3E7A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8CDB-1E99-4DB4-9030-512B4089E5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853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A52-D974-48E7-B96E-463E258D3E7A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8CDB-1E99-4DB4-9030-512B4089E5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890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A52-D974-48E7-B96E-463E258D3E7A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8CDB-1E99-4DB4-9030-512B4089E5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948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B272A52-D974-48E7-B96E-463E258D3E7A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6D518CDB-1E99-4DB4-9030-512B4089E5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0705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DAA170E-AE6B-42B7-9A27-A339E09F2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635" y="5254967"/>
            <a:ext cx="5211237" cy="912919"/>
          </a:xfrm>
        </p:spPr>
        <p:txBody>
          <a:bodyPr>
            <a:normAutofit/>
          </a:bodyPr>
          <a:lstStyle/>
          <a:p>
            <a:r>
              <a:rPr lang="ru-RU" dirty="0"/>
              <a:t>Проект: Гасилова Кирилла Петровича </a:t>
            </a:r>
          </a:p>
          <a:p>
            <a:r>
              <a:rPr lang="ru-RU" dirty="0"/>
              <a:t>Руководитель: Яковенко Евгений Романович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CE146-7B77-433F-8177-66778B143B77}"/>
              </a:ext>
            </a:extLst>
          </p:cNvPr>
          <p:cNvSpPr txBox="1"/>
          <p:nvPr/>
        </p:nvSpPr>
        <p:spPr>
          <a:xfrm>
            <a:off x="1803638" y="69815"/>
            <a:ext cx="88578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i="0" dirty="0">
                <a:solidFill>
                  <a:srgbClr val="0F111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Тема: Генератор сетевых диаграмм</a:t>
            </a:r>
            <a:endParaRPr lang="ru-RU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46F10D-5B2B-4A2A-947B-C48EA847ABC9}"/>
              </a:ext>
            </a:extLst>
          </p:cNvPr>
          <p:cNvSpPr txBox="1"/>
          <p:nvPr/>
        </p:nvSpPr>
        <p:spPr>
          <a:xfrm>
            <a:off x="30191" y="1329270"/>
            <a:ext cx="78543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i="0" dirty="0">
                <a:solidFill>
                  <a:srgbClr val="0F111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Сфера</a:t>
            </a:r>
            <a:r>
              <a:rPr lang="ru-RU" sz="4000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ru-RU" sz="4000" b="0" i="0" dirty="0">
                <a:solidFill>
                  <a:srgbClr val="0F1115"/>
                </a:solidFill>
                <a:effectLst/>
                <a:latin typeface="quote-cjk-patch"/>
              </a:rPr>
              <a:t> Системные утилиты</a:t>
            </a:r>
            <a:endParaRPr lang="ru-RU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BCDE0-740E-4710-9645-8CA8C0CF0F42}"/>
              </a:ext>
            </a:extLst>
          </p:cNvPr>
          <p:cNvSpPr txBox="1"/>
          <p:nvPr/>
        </p:nvSpPr>
        <p:spPr>
          <a:xfrm>
            <a:off x="30191" y="2588725"/>
            <a:ext cx="124047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i="0" dirty="0">
                <a:solidFill>
                  <a:srgbClr val="0F111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Цель</a:t>
            </a:r>
            <a:r>
              <a:rPr lang="ru-RU" sz="4000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ru-RU" sz="4000" b="0" i="0" dirty="0">
                <a:solidFill>
                  <a:srgbClr val="0F1115"/>
                </a:solidFill>
                <a:effectLst/>
                <a:latin typeface="quote-cjk-patch"/>
              </a:rPr>
              <a:t> Автоматизация создания сетевой документации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819811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32D886-8A64-4BB1-9C6C-94BE8BE27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9570" y="270292"/>
            <a:ext cx="10571998" cy="970450"/>
          </a:xfrm>
        </p:spPr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Проблематика и решение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57B3ED-286E-4F5B-89DC-2186317C6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80747"/>
            <a:ext cx="6096000" cy="3636511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ru-RU" sz="33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Проблемы: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3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Ручное создание диаграмм занимает 40% времени админов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3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Устаревшие схемы → ошибки при устранении неисправностей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3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Отсутствие стандартизации в документации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C5F981-96C2-47EE-8D51-72D79280D970}"/>
              </a:ext>
            </a:extLst>
          </p:cNvPr>
          <p:cNvSpPr txBox="1"/>
          <p:nvPr/>
        </p:nvSpPr>
        <p:spPr>
          <a:xfrm>
            <a:off x="6236899" y="1954717"/>
            <a:ext cx="5771072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Решение: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Автоматический генератор сетевых диаграмм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Визуализация связей в реальном времени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Экспорт в стандартные форматы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4717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763F85-C671-473E-BF62-C2711A26F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339" y="404056"/>
            <a:ext cx="10571998" cy="970450"/>
          </a:xfrm>
        </p:spPr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Техническая реализация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6386D-80E6-4467-9E7B-2FFE122B9E74}"/>
              </a:ext>
            </a:extLst>
          </p:cNvPr>
          <p:cNvSpPr txBox="1"/>
          <p:nvPr/>
        </p:nvSpPr>
        <p:spPr>
          <a:xfrm>
            <a:off x="171472" y="2202995"/>
            <a:ext cx="675017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Технологии: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Язык: </a:t>
            </a:r>
            <a:r>
              <a:rPr lang="ru-RU" sz="32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Python 3.10+</a:t>
            </a:r>
            <a:endParaRPr lang="ru-RU" sz="3200" b="0" i="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Библиотеки: </a:t>
            </a:r>
            <a:r>
              <a:rPr lang="ru-RU" sz="3200" b="1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Matplotlib</a:t>
            </a:r>
            <a:r>
              <a:rPr lang="ru-RU" sz="32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для визуализации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Форматы: </a:t>
            </a:r>
            <a:r>
              <a:rPr lang="ru-RU" sz="32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JSON</a:t>
            </a:r>
            <a:r>
              <a:rPr lang="ru-RU" sz="32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для хранения конфигурации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6B189F5-572B-44E4-B374-89E882D7E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007" y="2014441"/>
            <a:ext cx="1840391" cy="4553695"/>
          </a:xfrm>
          <a:prstGeom prst="rect">
            <a:avLst/>
          </a:prstGeom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11A9EEE1-DCB9-4F8F-A3E7-9997DA168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2460"/>
            <a:ext cx="65" cy="482119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7FA935-0CA5-4DF5-90F2-D985822CA5EC}"/>
              </a:ext>
            </a:extLst>
          </p:cNvPr>
          <p:cNvSpPr txBox="1"/>
          <p:nvPr/>
        </p:nvSpPr>
        <p:spPr>
          <a:xfrm>
            <a:off x="8267069" y="2014441"/>
            <a:ext cx="40177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Ключевые классы: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96590DA0-C7F0-4C9B-99C1-89FBBE353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1059"/>
            <a:ext cx="65" cy="482119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91C5D-CD54-48DD-89C2-0923F52F646E}"/>
              </a:ext>
            </a:extLst>
          </p:cNvPr>
          <p:cNvSpPr txBox="1"/>
          <p:nvPr/>
        </p:nvSpPr>
        <p:spPr>
          <a:xfrm>
            <a:off x="8084835" y="2900597"/>
            <a:ext cx="43822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NetworkDiagramGenerator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-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основной класс</a:t>
            </a:r>
            <a:endParaRPr kumimoji="0" lang="ru-RU" altLang="ru-RU" sz="1050" b="0" i="0" u="none" strike="noStrike" cap="none" normalizeH="0" baseline="0" dirty="0">
              <a:ln>
                <a:noFill/>
              </a:ln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F9222ACE-014D-4017-9313-DDB98CF56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6398" y="3540532"/>
            <a:ext cx="40177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NetworkDevice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 модель устройства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Rectangle 9">
            <a:extLst>
              <a:ext uri="{FF2B5EF4-FFF2-40B4-BE49-F238E27FC236}">
                <a16:creationId xmlns:a16="http://schemas.microsoft.com/office/drawing/2014/main" id="{FCCACB0D-16CC-4B8E-B276-26D9CBF59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6338" y="4291288"/>
            <a:ext cx="36813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Connection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Cambria" panose="02040503050406030204" pitchFamily="18" charset="0"/>
                <a:ea typeface="Cambria" panose="02040503050406030204" pitchFamily="18" charset="0"/>
                <a:cs typeface="Segoe UI" panose="020B0502040204020203" pitchFamily="34" charset="0"/>
              </a:rPr>
              <a:t> - модель соединения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915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>
            <a:extLst>
              <a:ext uri="{FF2B5EF4-FFF2-40B4-BE49-F238E27FC236}">
                <a16:creationId xmlns:a16="http://schemas.microsoft.com/office/drawing/2014/main" id="{11A9EEE1-DCB9-4F8F-A3E7-9997DA168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2460"/>
            <a:ext cx="65" cy="482119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96590DA0-C7F0-4C9B-99C1-89FBBE353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1059"/>
            <a:ext cx="65" cy="482119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3B4919-6BF3-4F61-A971-8EC3A2A915A3}"/>
              </a:ext>
            </a:extLst>
          </p:cNvPr>
          <p:cNvSpPr txBox="1"/>
          <p:nvPr/>
        </p:nvSpPr>
        <p:spPr>
          <a:xfrm>
            <a:off x="1779033" y="206552"/>
            <a:ext cx="11551654" cy="375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800" b="1" kern="0" dirty="0">
                <a:solidFill>
                  <a:srgbClr val="0F111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Позвольте показать вам ключевые элементы кода:</a:t>
            </a:r>
            <a:endParaRPr lang="ru-RU" sz="2400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8720F9B-3C9D-43EB-BDD3-3B2C62D50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57" y="897398"/>
            <a:ext cx="3920342" cy="575405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2BDD21C-FA22-4C25-84AB-A060EAA9FCA3}"/>
              </a:ext>
            </a:extLst>
          </p:cNvPr>
          <p:cNvSpPr txBox="1"/>
          <p:nvPr/>
        </p:nvSpPr>
        <p:spPr>
          <a:xfrm>
            <a:off x="5014103" y="3030636"/>
            <a:ext cx="5777541" cy="2030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800" b="1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Эти три класса образуют фундамент всей системы.</a:t>
            </a:r>
            <a:r>
              <a:rPr lang="ru-RU" sz="28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8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Они позволяют описать любую сетевую инфраструктуру — от домашней сети до дата-центра корпоративного уровня.</a:t>
            </a:r>
            <a:endParaRPr lang="ru-RU" sz="2400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76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A0F92C-A6F2-4F96-80FF-4EEFB8BC8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106" y="300539"/>
            <a:ext cx="10571998" cy="970450"/>
          </a:xfrm>
        </p:spPr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Функциональные возможности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9733A0-7514-40B8-B110-C5D5FC69864C}"/>
              </a:ext>
            </a:extLst>
          </p:cNvPr>
          <p:cNvSpPr txBox="1"/>
          <p:nvPr/>
        </p:nvSpPr>
        <p:spPr>
          <a:xfrm>
            <a:off x="250167" y="2000700"/>
            <a:ext cx="641805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Поддерживаемые устройства: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✅ Маршрутизаторы, коммутаторы, серверы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✅ Рабочие станции, точки доступа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✅ Межсетевые экраны, принтеры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E97C5-F773-41B1-944F-16C25883D261}"/>
              </a:ext>
            </a:extLst>
          </p:cNvPr>
          <p:cNvSpPr txBox="1"/>
          <p:nvPr/>
        </p:nvSpPr>
        <p:spPr>
          <a:xfrm>
            <a:off x="6668219" y="2000700"/>
            <a:ext cx="641805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Типы соединений: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Ethernet (1Gbps, 10Gbps)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Оптоволокно (</a:t>
            </a:r>
            <a:r>
              <a:rPr lang="en-US" sz="32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Fiber)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Беспроводные (</a:t>
            </a:r>
            <a:r>
              <a:rPr lang="en-US" sz="32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Wi-Fi)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WAN </a:t>
            </a:r>
            <a:r>
              <a:rPr lang="ru-RU" sz="32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соединения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06F45E-A080-462C-BD97-95C87C3CA822}"/>
              </a:ext>
            </a:extLst>
          </p:cNvPr>
          <p:cNvSpPr txBox="1"/>
          <p:nvPr/>
        </p:nvSpPr>
        <p:spPr>
          <a:xfrm>
            <a:off x="3752684" y="4476004"/>
            <a:ext cx="550345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Экспорт в форматы: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PNG</a:t>
            </a: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- для документации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PDF</a:t>
            </a: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- для печати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SVG</a:t>
            </a: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- для редактирования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JSON</a:t>
            </a: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- для миграции</a:t>
            </a:r>
          </a:p>
        </p:txBody>
      </p:sp>
    </p:spTree>
    <p:extLst>
      <p:ext uri="{BB962C8B-B14F-4D97-AF65-F5344CB8AC3E}">
        <p14:creationId xmlns:p14="http://schemas.microsoft.com/office/powerpoint/2010/main" val="1943205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5807B8-7B34-4B57-A936-D4FD07D83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550" y="567958"/>
            <a:ext cx="10571998" cy="864027"/>
          </a:xfrm>
        </p:spPr>
        <p:txBody>
          <a:bodyPr/>
          <a:lstStyle/>
          <a:p>
            <a:r>
              <a:rPr lang="ru-RU" sz="2800" b="1" kern="0" dirty="0">
                <a:solidFill>
                  <a:srgbClr val="0F111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Алгоритм автоматического размещения — сердце системы:</a:t>
            </a:r>
            <a:br>
              <a:rPr lang="ru-RU" sz="28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ru-RU" sz="5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9F0353-22BB-4BEC-A780-326D434AA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65" y="2326583"/>
            <a:ext cx="6318782" cy="34013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38EABA-D5E0-4201-BC13-8E5131E58504}"/>
              </a:ext>
            </a:extLst>
          </p:cNvPr>
          <p:cNvSpPr txBox="1"/>
          <p:nvPr/>
        </p:nvSpPr>
        <p:spPr>
          <a:xfrm>
            <a:off x="7112478" y="2542244"/>
            <a:ext cx="4412411" cy="310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800" b="1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Этот алгоритм использует математику для оптимального расположения:</a:t>
            </a:r>
            <a:r>
              <a:rPr lang="ru-RU" sz="28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8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маршрутизаторы в центре, коммутаторы вокруг них, серверы сверху, клиенты снизу. Это делает схемы интуитивно понятными.</a:t>
            </a:r>
            <a:endParaRPr lang="ru-RU" sz="2400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44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23CF5-6DA3-4196-8F0B-B102343CA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34" y="956146"/>
            <a:ext cx="10571998" cy="970450"/>
          </a:xfrm>
        </p:spPr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Преимущества и перспективы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C600DB-E28D-4467-90CE-37911055B6C9}"/>
              </a:ext>
            </a:extLst>
          </p:cNvPr>
          <p:cNvSpPr txBox="1"/>
          <p:nvPr/>
        </p:nvSpPr>
        <p:spPr>
          <a:xfrm>
            <a:off x="103517" y="2019883"/>
            <a:ext cx="650431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Преимущества: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⏱ </a:t>
            </a:r>
            <a:r>
              <a:rPr lang="ru-RU" sz="28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Экономия времени</a:t>
            </a: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- 85% быстрее ручного создания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✅ </a:t>
            </a:r>
            <a:r>
              <a:rPr lang="ru-RU" sz="28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Актуальность</a:t>
            </a: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- автоматическое обновление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📊 </a:t>
            </a:r>
            <a:r>
              <a:rPr lang="ru-RU" sz="28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Стандартизация</a:t>
            </a: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- единый стиль всех схем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🔧 </a:t>
            </a:r>
            <a:r>
              <a:rPr lang="ru-RU" sz="28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Интеграция</a:t>
            </a: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- JSON API для автоматизации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4AC3D8-F645-494B-BB19-E460DB84B63A}"/>
              </a:ext>
            </a:extLst>
          </p:cNvPr>
          <p:cNvSpPr txBox="1"/>
          <p:nvPr/>
        </p:nvSpPr>
        <p:spPr>
          <a:xfrm>
            <a:off x="6720418" y="2019883"/>
            <a:ext cx="536806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Перспективы развития:</a:t>
            </a:r>
          </a:p>
          <a:p>
            <a:pPr algn="l">
              <a:buFont typeface="+mj-lt"/>
              <a:buAutoNum type="arabicPeriod"/>
            </a:pPr>
            <a:r>
              <a:rPr lang="ru-RU" sz="28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3D-визуализация</a:t>
            </a: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сетевой топологии</a:t>
            </a:r>
          </a:p>
          <a:p>
            <a:pPr algn="l">
              <a:buFont typeface="+mj-lt"/>
              <a:buAutoNum type="arabicPeriod"/>
            </a:pPr>
            <a:r>
              <a:rPr lang="ru-RU" sz="28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Интеграция с системами мониторинга</a:t>
            </a: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(</a:t>
            </a:r>
            <a:r>
              <a:rPr lang="ru-RU" sz="28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Zabbix</a:t>
            </a: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PRTG)</a:t>
            </a:r>
          </a:p>
          <a:p>
            <a:pPr algn="l">
              <a:buFont typeface="+mj-lt"/>
              <a:buAutoNum type="arabicPeriod"/>
            </a:pPr>
            <a:r>
              <a:rPr lang="ru-RU" sz="2800" b="1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Автообнаружение</a:t>
            </a:r>
            <a:r>
              <a:rPr lang="ru-RU" sz="28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сети</a:t>
            </a: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(SNMP, </a:t>
            </a:r>
            <a:r>
              <a:rPr lang="ru-RU" sz="28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NetFlow</a:t>
            </a: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algn="l">
              <a:buFont typeface="+mj-lt"/>
              <a:buAutoNum type="arabicPeriod"/>
            </a:pPr>
            <a:r>
              <a:rPr lang="ru-RU" sz="28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Веб-интерфейс</a:t>
            </a: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для удаленного доступа</a:t>
            </a:r>
          </a:p>
          <a:p>
            <a:pPr algn="l">
              <a:buFont typeface="+mj-lt"/>
              <a:buAutoNum type="arabicPeriod"/>
            </a:pPr>
            <a:r>
              <a:rPr lang="ru-RU" sz="28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Мобильное приложение</a:t>
            </a:r>
            <a:r>
              <a:rPr lang="ru-RU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для просмотра</a:t>
            </a:r>
          </a:p>
        </p:txBody>
      </p:sp>
    </p:spTree>
    <p:extLst>
      <p:ext uri="{BB962C8B-B14F-4D97-AF65-F5344CB8AC3E}">
        <p14:creationId xmlns:p14="http://schemas.microsoft.com/office/powerpoint/2010/main" val="614872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838467-C47F-4549-9472-5657EA1DC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7977" y="-241366"/>
            <a:ext cx="6022121" cy="970450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КОД  ЧТО ОН ДЕЛАЕТ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459155A-DADB-4FD2-9E87-9C7AAC2FB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67" y="1447106"/>
            <a:ext cx="4850563" cy="284212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ADFC76C-2937-42BB-8D4F-87FEFC8B3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68" y="4457951"/>
            <a:ext cx="4850563" cy="21240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D9F26CA-1E2C-4E36-AC7A-C94581EE166A}"/>
              </a:ext>
            </a:extLst>
          </p:cNvPr>
          <p:cNvSpPr txBox="1"/>
          <p:nvPr/>
        </p:nvSpPr>
        <p:spPr>
          <a:xfrm>
            <a:off x="175868" y="726050"/>
            <a:ext cx="6098874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800" b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Визуализация устройств — полиморфизм в действии: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57C0FF-1B0E-4E4D-9CB9-1C0CAAA83494}"/>
              </a:ext>
            </a:extLst>
          </p:cNvPr>
          <p:cNvSpPr txBox="1"/>
          <p:nvPr/>
        </p:nvSpPr>
        <p:spPr>
          <a:xfrm>
            <a:off x="5325794" y="717151"/>
            <a:ext cx="609887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000" b="1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Каждое устройство имеет уникальную визуальную форму и цвет,</a:t>
            </a:r>
            <a:r>
              <a:rPr lang="ru-RU" sz="20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 что позволяет мгновенно идентифицировать его тип на схеме.</a:t>
            </a:r>
            <a:endParaRPr lang="ru-RU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7BEF0B9-4E0F-4722-AA56-B312D0520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5794" y="1680376"/>
            <a:ext cx="5072103" cy="170861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8712100-8591-4543-8E69-F014FBCC85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5794" y="4415191"/>
            <a:ext cx="5095238" cy="220952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17343B7-9AD7-457B-8491-E18B9B3B5E01}"/>
              </a:ext>
            </a:extLst>
          </p:cNvPr>
          <p:cNvSpPr txBox="1"/>
          <p:nvPr/>
        </p:nvSpPr>
        <p:spPr>
          <a:xfrm>
            <a:off x="5256783" y="3388987"/>
            <a:ext cx="609887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800" b="1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Тип линии показывает технологию соединения,</a:t>
            </a:r>
            <a:r>
              <a:rPr lang="ru-RU" sz="18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 цвет — его приоритет или тип трафика, подпись — пропускную способность.</a:t>
            </a:r>
            <a:endParaRPr lang="ru-RU" sz="1600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650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838467-C47F-4549-9472-5657EA1DC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7977" y="-241366"/>
            <a:ext cx="6022121" cy="970450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КОД  ЧТО ОН ДЕЛАЕТ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F3B0E94-2C11-49A6-B1B1-1619B9AB2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41" y="838279"/>
            <a:ext cx="4857143" cy="27142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6E816BD-6F8A-4EF1-9CCC-F9E1A023FB7A}"/>
              </a:ext>
            </a:extLst>
          </p:cNvPr>
          <p:cNvSpPr txBox="1"/>
          <p:nvPr/>
        </p:nvSpPr>
        <p:spPr>
          <a:xfrm>
            <a:off x="5413076" y="838279"/>
            <a:ext cx="6098874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b="1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Этот метод реализует конвейер обработки:</a:t>
            </a:r>
            <a:r>
              <a:rPr lang="ru-RU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 данные → расположение → отрисовка → финальное оформление.</a:t>
            </a:r>
            <a:endParaRPr lang="ru-RU" sz="1600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633D6D0-A88D-4A18-A813-48CFE669B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164" y="1984075"/>
            <a:ext cx="4887101" cy="81451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3FAEF4E-5236-4E3A-9A41-404E23505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61" y="3957380"/>
            <a:ext cx="4655623" cy="273114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BDC8F79-6745-4BA1-9E09-35D998F1D41C}"/>
              </a:ext>
            </a:extLst>
          </p:cNvPr>
          <p:cNvSpPr txBox="1"/>
          <p:nvPr/>
        </p:nvSpPr>
        <p:spPr>
          <a:xfrm>
            <a:off x="5648865" y="5652730"/>
            <a:ext cx="609887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000" b="1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Система сохраняет и диаграммы, и конфигурации,</a:t>
            </a:r>
            <a:r>
              <a:rPr lang="ru-RU" sz="20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 что позволяет легко обновлять документацию при изменении сети.</a:t>
            </a:r>
            <a:endParaRPr lang="ru-RU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BA8E3F8-A286-4856-BB76-E95A19AAC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164" y="2916246"/>
            <a:ext cx="4857142" cy="262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03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CB7663-D7D6-4C66-8DCF-4AB3F2BA1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762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DAA170E-AE6B-42B7-9A27-A339E09F2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635" y="5254967"/>
            <a:ext cx="5211237" cy="912919"/>
          </a:xfrm>
        </p:spPr>
        <p:txBody>
          <a:bodyPr>
            <a:normAutofit/>
          </a:bodyPr>
          <a:lstStyle/>
          <a:p>
            <a:r>
              <a:rPr lang="ru-RU" dirty="0"/>
              <a:t>Проект: Гасилова Кирилла Петровича </a:t>
            </a:r>
          </a:p>
          <a:p>
            <a:r>
              <a:rPr lang="ru-RU" dirty="0"/>
              <a:t>Руководитель: Яковенко Евгений Романович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CE146-7B77-433F-8177-66778B143B77}"/>
              </a:ext>
            </a:extLst>
          </p:cNvPr>
          <p:cNvSpPr txBox="1"/>
          <p:nvPr/>
        </p:nvSpPr>
        <p:spPr>
          <a:xfrm>
            <a:off x="1803638" y="69815"/>
            <a:ext cx="88578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i="0" dirty="0">
                <a:solidFill>
                  <a:srgbClr val="0F111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Тема: Генератор сетевых диаграмм</a:t>
            </a:r>
            <a:endParaRPr lang="ru-RU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46F10D-5B2B-4A2A-947B-C48EA847ABC9}"/>
              </a:ext>
            </a:extLst>
          </p:cNvPr>
          <p:cNvSpPr txBox="1"/>
          <p:nvPr/>
        </p:nvSpPr>
        <p:spPr>
          <a:xfrm>
            <a:off x="30191" y="1329270"/>
            <a:ext cx="78543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i="0" dirty="0">
                <a:solidFill>
                  <a:srgbClr val="0F111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Сфера</a:t>
            </a:r>
            <a:r>
              <a:rPr lang="ru-RU" sz="4000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ru-RU" sz="4000" b="0" i="0" dirty="0">
                <a:solidFill>
                  <a:srgbClr val="0F1115"/>
                </a:solidFill>
                <a:effectLst/>
                <a:latin typeface="quote-cjk-patch"/>
              </a:rPr>
              <a:t> Системные утилиты</a:t>
            </a:r>
            <a:endParaRPr lang="ru-RU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BCDE0-740E-4710-9645-8CA8C0CF0F42}"/>
              </a:ext>
            </a:extLst>
          </p:cNvPr>
          <p:cNvSpPr txBox="1"/>
          <p:nvPr/>
        </p:nvSpPr>
        <p:spPr>
          <a:xfrm>
            <a:off x="30191" y="2588725"/>
            <a:ext cx="124047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i="0" dirty="0">
                <a:solidFill>
                  <a:srgbClr val="0F111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Цель</a:t>
            </a:r>
            <a:r>
              <a:rPr lang="ru-RU" sz="4000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ru-RU" sz="4000" b="0" i="0" dirty="0">
                <a:solidFill>
                  <a:srgbClr val="0F1115"/>
                </a:solidFill>
                <a:effectLst/>
                <a:latin typeface="quote-cjk-patch"/>
              </a:rPr>
              <a:t> Автоматизация создания сетевой документации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3931199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Цитаты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111</TotalTime>
  <Words>408</Words>
  <Application>Microsoft Office PowerPoint</Application>
  <PresentationFormat>Широкоэкранный</PresentationFormat>
  <Paragraphs>69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Calibri</vt:lpstr>
      <vt:lpstr>Cambria</vt:lpstr>
      <vt:lpstr>Century Gothic</vt:lpstr>
      <vt:lpstr>quote-cjk-patch</vt:lpstr>
      <vt:lpstr>Segoe UI</vt:lpstr>
      <vt:lpstr>Wingdings 2</vt:lpstr>
      <vt:lpstr>Цитаты</vt:lpstr>
      <vt:lpstr>Презентация PowerPoint</vt:lpstr>
      <vt:lpstr>Проблематика и решение </vt:lpstr>
      <vt:lpstr>Техническая реализация </vt:lpstr>
      <vt:lpstr>Презентация PowerPoint</vt:lpstr>
      <vt:lpstr>Функциональные возможности </vt:lpstr>
      <vt:lpstr>Алгоритм автоматического размещения — сердце системы: </vt:lpstr>
      <vt:lpstr>Преимущества и перспективы  </vt:lpstr>
      <vt:lpstr>КОД  ЧТО ОН ДЕЛАЕТ</vt:lpstr>
      <vt:lpstr>КОД  ЧТО ОН ДЕЛАЕТ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Яна Гасилова</dc:creator>
  <cp:lastModifiedBy>Яна Гасилова</cp:lastModifiedBy>
  <cp:revision>11</cp:revision>
  <dcterms:created xsi:type="dcterms:W3CDTF">2025-12-25T17:44:15Z</dcterms:created>
  <dcterms:modified xsi:type="dcterms:W3CDTF">2025-12-26T18:32:04Z</dcterms:modified>
</cp:coreProperties>
</file>